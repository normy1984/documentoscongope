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 b="1">
                <a:solidFill>
                  <a:sysClr val="windowText" lastClr="000000"/>
                </a:solidFill>
              </a:rPr>
              <a:t>Ponderaciones por Criterios y Opción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'Cuadro de Ponderaciones'!$C$1</c:f>
              <c:strCache>
                <c:ptCount val="1"/>
                <c:pt idx="0">
                  <c:v>Opción A 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'Cuadro de Ponderaciones'!$A$2:$A$4</c:f>
              <c:strCache>
                <c:ptCount val="3"/>
                <c:pt idx="0">
                  <c:v>Técnica </c:v>
                </c:pt>
                <c:pt idx="1">
                  <c:v>Económica </c:v>
                </c:pt>
                <c:pt idx="2">
                  <c:v>Institucional </c:v>
                </c:pt>
              </c:strCache>
            </c:strRef>
          </c:cat>
          <c:val>
            <c:numRef>
              <c:f>'Cuadro de Ponderaciones'!$C$2:$C$4</c:f>
              <c:numCache>
                <c:formatCode>0.00</c:formatCode>
                <c:ptCount val="3"/>
                <c:pt idx="0">
                  <c:v>1.62</c:v>
                </c:pt>
                <c:pt idx="1">
                  <c:v>1.4</c:v>
                </c:pt>
                <c:pt idx="2">
                  <c:v>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6D-4C0C-9601-7E1835BAC576}"/>
            </c:ext>
          </c:extLst>
        </c:ser>
        <c:ser>
          <c:idx val="2"/>
          <c:order val="1"/>
          <c:tx>
            <c:strRef>
              <c:f>'Cuadro de Ponderaciones'!$D$1</c:f>
              <c:strCache>
                <c:ptCount val="1"/>
                <c:pt idx="0">
                  <c:v>Opción B 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'Cuadro de Ponderaciones'!$A$2:$A$4</c:f>
              <c:strCache>
                <c:ptCount val="3"/>
                <c:pt idx="0">
                  <c:v>Técnica </c:v>
                </c:pt>
                <c:pt idx="1">
                  <c:v>Económica </c:v>
                </c:pt>
                <c:pt idx="2">
                  <c:v>Institucional </c:v>
                </c:pt>
              </c:strCache>
            </c:strRef>
          </c:cat>
          <c:val>
            <c:numRef>
              <c:f>'Cuadro de Ponderaciones'!$D$2:$D$4</c:f>
              <c:numCache>
                <c:formatCode>0.00</c:formatCode>
                <c:ptCount val="3"/>
                <c:pt idx="0">
                  <c:v>1.36</c:v>
                </c:pt>
                <c:pt idx="1">
                  <c:v>1.19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6D-4C0C-9601-7E1835BAC5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8448352"/>
        <c:axId val="208433952"/>
      </c:barChart>
      <c:catAx>
        <c:axId val="20844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208433952"/>
        <c:crosses val="autoZero"/>
        <c:auto val="1"/>
        <c:lblAlgn val="ctr"/>
        <c:lblOffset val="100"/>
        <c:noMultiLvlLbl val="0"/>
      </c:catAx>
      <c:valAx>
        <c:axId val="2084339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crossAx val="208448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27F74-7FAD-66E7-0EE2-93247F094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4B7235-8927-5552-BC41-527ABD822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34E0C4-27F4-5902-A864-F6678B74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CD096-51BD-E3D9-C016-79B0AD29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6662DC-CB12-D22E-F364-6B27086C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97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F2C8E-EC9E-A658-A090-0CECA59F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EBD85-EB2C-2AA7-CB79-A9721B52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43D146-6B8E-4BF7-9B57-079B0FE8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3D907-B5DC-2BA1-538E-E9CAADAC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FC2EA1-2FBE-51AF-7C21-5D809060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77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17827-B3EE-F1B3-2877-A8CA9CFB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E64769-1E5E-D31B-B032-F642E8012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4C994E-CFC1-9B98-8F25-517439B0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BAB766-02EF-800E-128A-8FBB4732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36922-FB37-9D4B-FB1F-0C7D3ECB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1978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4B733-10C9-8919-6F4D-0EA0B8B6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E6CBAA-F33F-59D8-218C-B8BD1E393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F22700-12F0-FB94-7EBA-C04CE0230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1BE588-67B7-B2B3-23D4-A8CCDB81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24ADB9-8618-45B7-8BC0-9981E021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1ED12B-3A02-4CDC-FD41-2F23DF98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9366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ECE71-83ED-DDD4-1B5A-EE76AED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A25B0E-14FB-8B01-28C7-D4F3A55DE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89ADD1-A147-C59F-30AA-762813FC4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94FBE4-DBF4-E3FF-23A0-CB0A8D809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C9C2C5-B877-24FC-A908-BD910F704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219640-95B4-B06E-2E6B-9E603538A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797E59-9D3B-E135-9569-4B59D6F0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3E6C76-FCB1-5D1F-7AD4-68873417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476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E93A8-5F69-DBE4-A218-8C846A1F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EFFFA2-53CD-5D42-AC15-7D9B7FE2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7F9426-CDBA-0A2D-10A9-2B9D7CC6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E6F1F4-B35C-C404-0B2A-8FAAFF93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8815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BAA47B-F890-DCC8-5235-B6F6D0EF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88B8D7-916E-225D-F85B-21B5734F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7C7645-5C15-F124-37A2-7EE8CE45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7211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AF154-413A-4B60-6665-25B1EFF00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848E1-5F59-3D01-F7E6-AFF76F01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2B6259-7EAF-209B-A298-5010E69E8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CCBC8-F59C-A487-067C-7B70C8D0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D4D2F5-C878-B74E-55BE-401C6036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6CBD24-41DF-171E-D425-49E66217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358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4CB3-7B22-8992-DA0F-D9926D7A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3C8A3C-2C97-BFCD-3142-331D69778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DDC55C-F639-82C4-21B7-A20A27C5D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03AFE6-E048-4C12-E52B-C2E1E774B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B6C66B-6ABB-5B73-F1D1-0413F908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BA5B3A-622D-F2D7-C229-4D3B1D5A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7410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7C1AD-2EFC-82E9-CB5F-6C1DC001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0C04AF-1A17-0D22-0B03-DA29D24E3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D52D5-96DA-167C-0206-3B4815A3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09C7C9-EBD7-4E08-0D62-0A6C190B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D0F10-B663-2622-B817-1A5F2B45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0148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BA57EC-BA3F-A809-3629-739C6577D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89C2BE-6588-1AC8-586A-A4DAEF619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F6B2B-0200-478B-3700-2504D17C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E49852-5BE8-952D-9C31-817FD1D67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7D927-F3C5-4027-860F-948A66E3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357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79E199-7427-EA67-4FDE-6ED62423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C08AD5-F4EA-0D9D-3B7D-0B063C056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0FEE70-1314-D6FB-357D-2A38BBDF0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450D5-2E5B-4994-AA91-D76A1173B6D1}" type="datetimeFigureOut">
              <a:rPr lang="es-EC" smtClean="0"/>
              <a:t>10/7/2025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54CFA-BAB8-159D-9372-59F5BA10D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7E1626-71B5-661E-A858-8DEC66E2A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23D77-19FE-4710-B785-420E01E7B6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44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7B5594BA-481B-5EAF-7F9A-459566EC0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459" y="459445"/>
            <a:ext cx="2777233" cy="1134663"/>
          </a:xfrm>
          <a:prstGeom prst="rect">
            <a:avLst/>
          </a:prstGeom>
        </p:spPr>
      </p:pic>
      <p:sp>
        <p:nvSpPr>
          <p:cNvPr id="34" name="Título 1">
            <a:extLst>
              <a:ext uri="{FF2B5EF4-FFF2-40B4-BE49-F238E27FC236}">
                <a16:creationId xmlns:a16="http://schemas.microsoft.com/office/drawing/2014/main" id="{077532A4-A7B0-D5B6-B198-758938319C29}"/>
              </a:ext>
            </a:extLst>
          </p:cNvPr>
          <p:cNvSpPr txBox="1">
            <a:spLocks/>
          </p:cNvSpPr>
          <p:nvPr/>
        </p:nvSpPr>
        <p:spPr>
          <a:xfrm>
            <a:off x="1797150" y="1935324"/>
            <a:ext cx="9144000" cy="4708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/>
              <a:t>ANÁLISIS DE FACTIBILIDAD Y RECOMENDACIÓN DE ALTERNATIVA PARA LA IMPLEMENTACIÓN DEL SISTEMA PROVINCIAL INTEGRAL DE LOS GAD</a:t>
            </a:r>
            <a:br>
              <a:rPr lang="es-ES" sz="2400" b="1" dirty="0"/>
            </a:br>
            <a:br>
              <a:rPr lang="es-ES" sz="2400" b="1" dirty="0"/>
            </a:br>
            <a:r>
              <a:rPr lang="es-ES" sz="2400" b="1" dirty="0"/>
              <a:t>DIRECCIÓN DE TECNOLOGÍAS E INFORMACIÓN </a:t>
            </a:r>
            <a:br>
              <a:rPr lang="es-ES" sz="2400" b="1" dirty="0"/>
            </a:br>
            <a:br>
              <a:rPr lang="es-ES" sz="2400" b="1" dirty="0"/>
            </a:br>
            <a:r>
              <a:rPr lang="es-ES" sz="2400" b="1" dirty="0"/>
              <a:t>  </a:t>
            </a:r>
            <a:br>
              <a:rPr lang="es-ES" sz="2400" b="1" dirty="0"/>
            </a:br>
            <a:br>
              <a:rPr lang="es-ES" sz="2400" b="1" dirty="0"/>
            </a:br>
            <a:r>
              <a:rPr lang="es-ES" sz="2400" b="1" dirty="0"/>
              <a:t>JULIO 2025 </a:t>
            </a:r>
            <a:endParaRPr lang="es-EC" sz="2400" b="1" dirty="0"/>
          </a:p>
        </p:txBody>
      </p:sp>
    </p:spTree>
    <p:extLst>
      <p:ext uri="{BB962C8B-B14F-4D97-AF65-F5344CB8AC3E}">
        <p14:creationId xmlns:p14="http://schemas.microsoft.com/office/powerpoint/2010/main" val="1133885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27714-3C64-AAD0-4191-3210CDA6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306283-CAB2-D3FD-1BED-A6041C188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5DCD6B-7996-06F9-6A89-58155288F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31DD09-6069-09B3-C99F-4FE300384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7604F2-FBDD-E7E5-313F-5460AE584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382B8BC-C4B3-35BF-B0EC-D9632F984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8611CB-973F-25CC-B091-DF7C4B531C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58342A-A0CE-EE45-9D96-26018C3C1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F5ACA03-C290-4D5E-A4B0-CD5DF24A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D6D799-97C1-F3DF-B321-23867E56D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C84922-A65E-16CF-4926-1AA64FC1C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0291B70-7614-C5B9-2384-D1AF31525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6A2923-B6C9-4EDD-4CF3-30126FACE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Marcador de contenido 18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62B5232A-786C-C55A-75F0-4D433FD54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55" y="1961383"/>
            <a:ext cx="3913298" cy="2770615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ADB0DB-83C6-F063-7F4E-AB96588065FD}"/>
              </a:ext>
            </a:extLst>
          </p:cNvPr>
          <p:cNvSpPr>
            <a:spLocks noGrp="1"/>
          </p:cNvSpPr>
          <p:nvPr/>
        </p:nvSpPr>
        <p:spPr>
          <a:xfrm>
            <a:off x="1630156" y="727531"/>
            <a:ext cx="8371268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	ALTERNATIVAS EVALUADAS</a:t>
            </a:r>
          </a:p>
        </p:txBody>
      </p:sp>
      <p:pic>
        <p:nvPicPr>
          <p:cNvPr id="26" name="Imagen 25" descr="Imagen de la pantalla de un celular en la mano&#10;&#10;El contenido generado por IA puede ser incorrecto.">
            <a:extLst>
              <a:ext uri="{FF2B5EF4-FFF2-40B4-BE49-F238E27FC236}">
                <a16:creationId xmlns:a16="http://schemas.microsoft.com/office/drawing/2014/main" id="{F434CC11-A7B9-CFE4-4473-0AB55B669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613" y="2174333"/>
            <a:ext cx="3082974" cy="2044146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FBD5CEAD-AC49-F664-3882-2D36CAAA1071}"/>
              </a:ext>
            </a:extLst>
          </p:cNvPr>
          <p:cNvSpPr txBox="1"/>
          <p:nvPr/>
        </p:nvSpPr>
        <p:spPr>
          <a:xfrm>
            <a:off x="2028670" y="4783496"/>
            <a:ext cx="35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Opción A: Desarrollo interno</a:t>
            </a:r>
            <a:endParaRPr lang="es-EC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688D9D0-49EB-DC13-2112-5010D2F5BDBE}"/>
              </a:ext>
            </a:extLst>
          </p:cNvPr>
          <p:cNvSpPr txBox="1"/>
          <p:nvPr/>
        </p:nvSpPr>
        <p:spPr>
          <a:xfrm>
            <a:off x="6690612" y="4735779"/>
            <a:ext cx="34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Opción B: Solución SaaS/BPM</a:t>
            </a:r>
            <a:endParaRPr lang="es-EC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1DAD40C-E466-FED6-3692-42FA2CAF4949}"/>
              </a:ext>
            </a:extLst>
          </p:cNvPr>
          <p:cNvSpPr txBox="1"/>
          <p:nvPr/>
        </p:nvSpPr>
        <p:spPr>
          <a:xfrm>
            <a:off x="2067201" y="5152828"/>
            <a:ext cx="3115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dirty="0"/>
              <a:t>.NET 8, Angular 17,WinForms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95345D8-BD01-B793-75FB-58709441C008}"/>
              </a:ext>
            </a:extLst>
          </p:cNvPr>
          <p:cNvSpPr txBox="1"/>
          <p:nvPr/>
        </p:nvSpPr>
        <p:spPr>
          <a:xfrm>
            <a:off x="7433108" y="5105111"/>
            <a:ext cx="212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Servicio en la nube</a:t>
            </a:r>
          </a:p>
        </p:txBody>
      </p:sp>
    </p:spTree>
    <p:extLst>
      <p:ext uri="{BB962C8B-B14F-4D97-AF65-F5344CB8AC3E}">
        <p14:creationId xmlns:p14="http://schemas.microsoft.com/office/powerpoint/2010/main" val="243897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55063-3854-79E4-7F55-DBBA65D0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637BD-B0ED-5C75-308A-7317F05DC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FF9B54-DD14-661B-005D-66DA47E9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D88FDA2-B5E0-681D-BB04-CD80C1EDA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6A6B369-EDA1-A43E-81BD-7F78CA29A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F440DB1-8ED2-CABE-AC9E-6F00E87DD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240460-7E97-42E4-7289-112A1B94E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12AF76-04CF-9E01-C6C5-14A996E63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EFEB02-1F99-3FAD-FB74-0F6593704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970CD51-6BC4-61CE-FA27-D0564EF44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18CAF7E-971F-433E-01C8-D3EC8C206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5B429C2-E356-76F9-4BC9-65C2FA4F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F8A60E9-6000-2E74-B8AD-7026DC65C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8ED10780-27F6-92CC-68D3-9F30D510D3EB}"/>
              </a:ext>
            </a:extLst>
          </p:cNvPr>
          <p:cNvSpPr>
            <a:spLocks noGrp="1"/>
          </p:cNvSpPr>
          <p:nvPr/>
        </p:nvSpPr>
        <p:spPr>
          <a:xfrm>
            <a:off x="663835" y="777681"/>
            <a:ext cx="8371268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CRITERIOS TÉCNICOS Y PONDERACIONES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47120FD-D328-C2FA-BE27-EB9253226DE7}"/>
              </a:ext>
            </a:extLst>
          </p:cNvPr>
          <p:cNvSpPr txBox="1"/>
          <p:nvPr/>
        </p:nvSpPr>
        <p:spPr>
          <a:xfrm>
            <a:off x="1175662" y="1809099"/>
            <a:ext cx="7979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Se definieron 14 criterios técnicos, económicos e institucionales, ponderados 40 % – 35 % – 25 % respectivamente. </a:t>
            </a:r>
          </a:p>
        </p:txBody>
      </p:sp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495238A7-A5AA-23D4-8D2E-3C946A222A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6248733"/>
              </p:ext>
            </p:extLst>
          </p:nvPr>
        </p:nvGraphicFramePr>
        <p:xfrm>
          <a:off x="2183414" y="2621282"/>
          <a:ext cx="7824866" cy="3618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1073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C4353C-C927-1758-0BEF-21E9E0D81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DA89A6D7-94E6-FB3F-0244-DD38244626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814935"/>
              </p:ext>
            </p:extLst>
          </p:nvPr>
        </p:nvGraphicFramePr>
        <p:xfrm>
          <a:off x="1014133" y="1847422"/>
          <a:ext cx="9684050" cy="4691178"/>
        </p:xfrm>
        <a:graphic>
          <a:graphicData uri="http://schemas.openxmlformats.org/drawingml/2006/table">
            <a:tbl>
              <a:tblPr/>
              <a:tblGrid>
                <a:gridCol w="3038851">
                  <a:extLst>
                    <a:ext uri="{9D8B030D-6E8A-4147-A177-3AD203B41FA5}">
                      <a16:colId xmlns:a16="http://schemas.microsoft.com/office/drawing/2014/main" val="3684947333"/>
                    </a:ext>
                  </a:extLst>
                </a:gridCol>
                <a:gridCol w="3295140">
                  <a:extLst>
                    <a:ext uri="{9D8B030D-6E8A-4147-A177-3AD203B41FA5}">
                      <a16:colId xmlns:a16="http://schemas.microsoft.com/office/drawing/2014/main" val="1662756941"/>
                    </a:ext>
                  </a:extLst>
                </a:gridCol>
                <a:gridCol w="3350059">
                  <a:extLst>
                    <a:ext uri="{9D8B030D-6E8A-4147-A177-3AD203B41FA5}">
                      <a16:colId xmlns:a16="http://schemas.microsoft.com/office/drawing/2014/main" val="3345538207"/>
                    </a:ext>
                  </a:extLst>
                </a:gridCol>
              </a:tblGrid>
              <a:tr h="3300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Criterios Generales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Opción A</a:t>
                      </a:r>
                    </a:p>
                    <a:p>
                      <a:pPr algn="ctr" fontAlgn="b">
                        <a:buNone/>
                      </a:pPr>
                      <a:r>
                        <a:rPr lang="es-EC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 (Desarrollo interno):</a:t>
                      </a:r>
                      <a:r>
                        <a:rPr lang="es-EC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Opción B</a:t>
                      </a:r>
                    </a:p>
                    <a:p>
                      <a:pPr algn="ctr" fontAlgn="b">
                        <a:buNone/>
                      </a:pPr>
                      <a:r>
                        <a:rPr lang="es-E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 (Solución SaaS/BPM)</a:t>
                      </a:r>
                      <a:endParaRPr lang="es-E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351606"/>
                  </a:ext>
                </a:extLst>
              </a:tr>
              <a:tr h="857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Control total sobre diseño, desarrollo, despliegue y mantenimiento. </a:t>
                      </a:r>
                      <a:endParaRPr lang="es-E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559345"/>
                  </a:ext>
                </a:extLst>
              </a:tr>
              <a:tr h="593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Alineamiento continúo a los objetivos estratégicos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Hasta terminar licencia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100208"/>
                  </a:ext>
                </a:extLst>
              </a:tr>
              <a:tr h="3300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Soporte Disponible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Hasta terminar licencia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519959"/>
                  </a:ext>
                </a:extLst>
              </a:tr>
              <a:tr h="593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Potencia desarrollo de competencias internas</a:t>
                      </a:r>
                      <a:endParaRPr lang="es-E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596487"/>
                  </a:ext>
                </a:extLst>
              </a:tr>
              <a:tr h="3300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Dependencia de Terceros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084972"/>
                  </a:ext>
                </a:extLst>
              </a:tr>
              <a:tr h="593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Acceso inmediato a funcionalidades probadas</a:t>
                      </a:r>
                      <a:endParaRPr lang="es-E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</a:t>
                      </a:r>
                      <a:endParaRPr lang="es-EC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30" marR="13730" marT="1373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90545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F3447E2-73D6-E8F3-A640-251305FAB55C}"/>
              </a:ext>
            </a:extLst>
          </p:cNvPr>
          <p:cNvSpPr>
            <a:spLocks noGrp="1"/>
          </p:cNvSpPr>
          <p:nvPr/>
        </p:nvSpPr>
        <p:spPr>
          <a:xfrm>
            <a:off x="865140" y="526844"/>
            <a:ext cx="8371268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CRITERIOS </a:t>
            </a:r>
          </a:p>
        </p:txBody>
      </p:sp>
    </p:spTree>
    <p:extLst>
      <p:ext uri="{BB962C8B-B14F-4D97-AF65-F5344CB8AC3E}">
        <p14:creationId xmlns:p14="http://schemas.microsoft.com/office/powerpoint/2010/main" val="123262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D3BEC6-B754-6DD2-B8B0-72CBDB9D1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260341"/>
            <a:ext cx="4616971" cy="2851306"/>
          </a:xfrm>
        </p:spPr>
        <p:txBody>
          <a:bodyPr/>
          <a:lstStyle/>
          <a:p>
            <a:pPr marL="0" indent="0" algn="just">
              <a:buNone/>
            </a:pPr>
            <a:r>
              <a:rPr lang="es-EC" dirty="0"/>
              <a:t>Optar por la </a:t>
            </a:r>
            <a:r>
              <a:rPr lang="es-EC" b="1" dirty="0"/>
              <a:t>Opción A: Desarrollo Interno del </a:t>
            </a:r>
            <a:r>
              <a:rPr lang="es-EC" b="1" dirty="0" err="1"/>
              <a:t>SFGProv</a:t>
            </a:r>
            <a:r>
              <a:rPr lang="es-EC" dirty="0"/>
              <a:t>, debido a su mayor flexibilidad, sostenibilidad económica y fortalecimiento institucional.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A051C5D-B0E5-02AD-30C8-DD5E311E3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472553"/>
              </p:ext>
            </p:extLst>
          </p:nvPr>
        </p:nvGraphicFramePr>
        <p:xfrm>
          <a:off x="6096000" y="2077803"/>
          <a:ext cx="5397710" cy="3198735"/>
        </p:xfrm>
        <a:graphic>
          <a:graphicData uri="http://schemas.openxmlformats.org/drawingml/2006/table">
            <a:tbl>
              <a:tblPr/>
              <a:tblGrid>
                <a:gridCol w="3840680">
                  <a:extLst>
                    <a:ext uri="{9D8B030D-6E8A-4147-A177-3AD203B41FA5}">
                      <a16:colId xmlns:a16="http://schemas.microsoft.com/office/drawing/2014/main" val="1468196734"/>
                    </a:ext>
                  </a:extLst>
                </a:gridCol>
                <a:gridCol w="1557030">
                  <a:extLst>
                    <a:ext uri="{9D8B030D-6E8A-4147-A177-3AD203B41FA5}">
                      <a16:colId xmlns:a16="http://schemas.microsoft.com/office/drawing/2014/main" val="2976306504"/>
                    </a:ext>
                  </a:extLst>
                </a:gridCol>
              </a:tblGrid>
              <a:tr h="639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Fases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4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795743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Planificación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1-14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16561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Infraestructura y CI/CD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15-45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232425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Pruebas y estabilización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66510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2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Consolidación y escalado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04798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9B59830B-019A-EC6B-82D1-DFA24F45662C}"/>
              </a:ext>
            </a:extLst>
          </p:cNvPr>
          <p:cNvSpPr>
            <a:spLocks noGrp="1"/>
          </p:cNvSpPr>
          <p:nvPr/>
        </p:nvSpPr>
        <p:spPr>
          <a:xfrm>
            <a:off x="6268385" y="659185"/>
            <a:ext cx="3718441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F1A9B0-A66D-5B89-77CB-B983942CF616}"/>
              </a:ext>
            </a:extLst>
          </p:cNvPr>
          <p:cNvSpPr>
            <a:spLocks noGrp="1"/>
          </p:cNvSpPr>
          <p:nvPr/>
        </p:nvSpPr>
        <p:spPr>
          <a:xfrm>
            <a:off x="1039319" y="659185"/>
            <a:ext cx="4303426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RECOMENDACIÓN </a:t>
            </a:r>
          </a:p>
        </p:txBody>
      </p:sp>
    </p:spTree>
    <p:extLst>
      <p:ext uri="{BB962C8B-B14F-4D97-AF65-F5344CB8AC3E}">
        <p14:creationId xmlns:p14="http://schemas.microsoft.com/office/powerpoint/2010/main" val="627643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200</Words>
  <Application>Microsoft Office PowerPoint</Application>
  <PresentationFormat>Panorámica</PresentationFormat>
  <Paragraphs>46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Norma Elizabeth Arcos Pilaluisa</dc:creator>
  <cp:lastModifiedBy>Norma Elizabeth Arcos Pilaluisa</cp:lastModifiedBy>
  <cp:revision>2</cp:revision>
  <dcterms:created xsi:type="dcterms:W3CDTF">2025-07-10T16:27:44Z</dcterms:created>
  <dcterms:modified xsi:type="dcterms:W3CDTF">2025-07-10T19:15:40Z</dcterms:modified>
</cp:coreProperties>
</file>